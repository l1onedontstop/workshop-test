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SparkForge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0116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0">
                <a:solidFill>
                  <a:srgbClr val="00D4FF"/>
                </a:solidFill>
                <a:latin typeface="Microsoft YaHei"/>
              </a:defRPr>
            </a:pPr>
            <a:r>
              <a:t>个人影响力锻造工坊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
                  <a:srgbClr val="A0A0B0"/>
                </a:solidFill>
                <a:latin typeface="Microsoft YaHei"/>
              </a:defRPr>
            </a:pPr>
            <a:r>
              <a:t>AI 驱动的短视频内容创作全流程平台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657600"/>
            <a:ext cx="192024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AI脚本生成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017520" y="3657600"/>
            <a:ext cx="192024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15468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7维智能评分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20640" y="3657600"/>
            <a:ext cx="192024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热点匹配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23759" y="3657600"/>
            <a:ext cx="192024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60919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数据复盘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3657600"/>
            <a:ext cx="1920240" cy="5486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464040" y="379476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  <a:latin typeface="Microsoft YaHei"/>
              </a:defRPr>
            </a:pPr>
            <a:r>
              <a:t>IP蓝图策略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8463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Electron + React 19 + TypeScript + Tailwind CSS + AI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Microsoft YaHei"/>
              </a:defRPr>
            </a:pPr>
            <a:r>
              <a:t>创作者面临的困境 vs SparkForge 解决方案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252"/>
                </a:solidFill>
                <a:latin typeface="Microsoft YaHei"/>
              </a:defRPr>
            </a:pPr>
            <a:r>
              <a:t>❌ 不会写口播文案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727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对着镜头不知道说什么，写出来的像念稿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14884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22219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252"/>
                </a:solidFill>
                <a:latin typeface="Microsoft YaHei"/>
              </a:defRPr>
            </a:pPr>
            <a:r>
              <a:t>❌ 不知道好不好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532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写完脚本心里没底，发了才知道效果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10896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3182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252"/>
                </a:solidFill>
                <a:latin typeface="Microsoft YaHei"/>
              </a:defRPr>
            </a:pPr>
            <a:r>
              <a:t>❌ 优化无方向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493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改了又改，不知道哪里需要改、怎么改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06908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41422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252"/>
                </a:solidFill>
                <a:latin typeface="Microsoft YaHei"/>
              </a:defRPr>
            </a:pPr>
            <a:r>
              <a:t>❌ 数据不反馈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453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发了就发了，播放数据不会反哺到下一次创作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502920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51023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5252"/>
                </a:solidFill>
                <a:latin typeface="Microsoft YaHei"/>
              </a:defRPr>
            </a:pPr>
            <a:r>
              <a:t>❌ 选题靠运气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4132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不知道最近什么话题火，凭感觉选方向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118872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126187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✅ AI 脚本生成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57276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输入话题，AI 自动生成完整口播文案 + 8段拍摄方案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217920" y="214884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0" y="222199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✅ 7 维智能评分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0" y="253288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开篇钩子·叙事节奏·观点锐度·实用密度·情绪共鸣·结构完整·表达效果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310896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318211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✅ AI 优化闭环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349300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评分定位弱项 → AI定向优化 → 重新评分 → 得分轨迹追踪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217920" y="406908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0" y="414223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✅ 数据复盘进化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445312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发布数据回传 → 预测偏差分析 → 评分规则自动进化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029200"/>
            <a:ext cx="5303520" cy="7772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102352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76"/>
                </a:solidFill>
                <a:latin typeface="Microsoft YaHei"/>
              </a:defRPr>
            </a:pPr>
            <a:r>
              <a:t>✅ 热点实时匹配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413248"/>
            <a:ext cx="4937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全网热榜监控 + AI 匹配你的行业 → 选题不再靠猜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02 / 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核心创作闭环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5C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IP蓝图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定义人设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37360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938528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029968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29968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选题策划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热点匹配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01568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602736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94176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94176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AI写稿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口播+方案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65776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266944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58384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4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58384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智能评分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7维打分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931152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022592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25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22592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AI优化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定向改写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595360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0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686800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发布追踪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多平台同步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058400" y="19202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0259568" y="1188720"/>
            <a:ext cx="1508760" cy="2011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351008" y="1371600"/>
            <a:ext cx="1325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5CFC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351008" y="1828800"/>
            <a:ext cx="1325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数据复盘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8" y="219456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规则进化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3566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核心指标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31520" y="4206240"/>
            <a:ext cx="201168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229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评分维度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4206240"/>
            <a:ext cx="201168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1089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Microsoft YaHei"/>
              </a:defRPr>
            </a:pPr>
            <a:r>
              <a:t>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108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方案段落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03520" y="4206240"/>
            <a:ext cx="201168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3949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Microsoft YaHei"/>
              </a:defRPr>
            </a:pPr>
            <a:r>
              <a:t>25+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394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校准样本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7589520" y="4206240"/>
            <a:ext cx="201168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76809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Microsoft YaHei"/>
              </a:defRPr>
            </a:pPr>
            <a:r>
              <a:t>15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680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功能页面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9875520" y="4206240"/>
            <a:ext cx="2011680" cy="12801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9966960" y="434340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D4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966960" y="489204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平台支持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Electron桌面应用 + React前端 + TypeScript全栈 + 多AI引擎支持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03 / 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脚本生成 —— 8段完整拍摄方案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88720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2618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口播文案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完整的口播脚本，口语化表达，像在说话而非念稿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188720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0" y="126187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0" y="126187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风格定义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64592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视频风格、调色方向、情绪基调的统一规划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468880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2542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分镜脚本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71600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镜头拆解、画面描述、时长分配的详细方案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2468880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2542032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0" y="2542032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设备建议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32320" y="2926080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拍摄设备、灯光、收音方案的具体推荐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3749039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38221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382219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场景布置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71600" y="420623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拍摄场景、道具、背景的完整建议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17920" y="3749039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382219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382219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后期制作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132320" y="420623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剪辑节奏、特效风格、字幕方案的指导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029199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1023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07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371600" y="510235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封面设计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548639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封面图方案、标题文案的优化建议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5029199"/>
            <a:ext cx="5394960" cy="105156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0" y="5102351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7C5CFC"/>
                </a:solidFill>
                <a:latin typeface="Microsoft YaHei"/>
              </a:defRPr>
            </a:pPr>
            <a:r>
              <a:t>08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132320" y="5102351"/>
            <a:ext cx="4297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900" b="1">
                <a:solidFill>
                  <a:srgbClr val="FFFFFF"/>
                </a:solidFill>
                <a:latin typeface="Microsoft YaHei"/>
              </a:defRPr>
            </a:pPr>
            <a:r>
              <a:t>AI自评分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0" y="5486399"/>
            <a:ext cx="4297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预估各维度得分 + 总分，提前知道脚本质量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00D4FF"/>
                </a:solidFill>
                <a:latin typeface="Microsoft YaHei"/>
              </a:defRPr>
            </a:pPr>
            <a:r>
              <a:t>一键生成 → 自动保存 → 直接进入评分优化流程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04 / 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7 维智能评分系统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A0A0B0"/>
                </a:solidFill>
                <a:latin typeface="Microsoft YaHei"/>
              </a:defRPr>
            </a:pPr>
            <a:r>
              <a:t>25+ 样本拟合 · 随复盘数据自动进化 · AI内容教练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7C5C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开篇钩子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7C5CFC"/>
                </a:solidFill>
                <a:latin typeface="Microsoft YaHei"/>
              </a:defRPr>
            </a:pPr>
            <a:r>
              <a:t>20%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前3秒能不能让人停下来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938528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29968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D4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29968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叙事节奏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29968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29968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信息密度和情绪起伏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02736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94176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E67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94176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观点锐度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94176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4176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有没有让人卧槽的洞见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266944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358384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D74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58384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实用密度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358384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40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58384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观众能拿走什么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931152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525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22592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情绪共鸣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22592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5252"/>
                </a:solidFill>
                <a:latin typeface="Microsoft YaHei"/>
              </a:defRPr>
            </a:pPr>
            <a:r>
              <a:t>15%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22592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会不会想转发/评论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595360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86800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500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结构完整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0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500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686800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开头-展开-高潮-结尾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259568" y="1371600"/>
            <a:ext cx="1508760" cy="2743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0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51008" y="155448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070FF"/>
                </a:solidFill>
                <a:latin typeface="Microsoft YaHei"/>
              </a:defRPr>
            </a:pPr>
            <a:r>
              <a:t>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351008" y="192024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FFFFFF"/>
                </a:solidFill>
                <a:latin typeface="Microsoft YaHei"/>
              </a:defRPr>
            </a:pPr>
            <a:r>
              <a:t>表达效果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351008" y="2286000"/>
            <a:ext cx="1325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A070FF"/>
                </a:solidFill>
                <a:latin typeface="Microsoft YaHei"/>
              </a:defRPr>
            </a:pPr>
            <a:r>
              <a:t>10%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351008" y="2651760"/>
            <a:ext cx="1325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口语化、画面感、适合口播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校准闭环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31520" y="4937760"/>
            <a:ext cx="10698480" cy="100584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109728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00D4FF"/>
                </a:solidFill>
                <a:latin typeface="Microsoft YaHei"/>
              </a:defRPr>
            </a:pPr>
            <a:r>
              <a:t>生成脚本 → AI评分 → 发布追踪 → 实际数据回传 → 预测 vs 实际偏差分析 → 评分权重自动调整 → 越来越准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" y="55778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每次复盘积累数据，让评分规则随你的创作风格自动进化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05 / 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AI 优化闭环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1783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13716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5CFC"/>
                </a:solidFill>
                <a:latin typeface="Microsoft YaHei"/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828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生成脚本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21945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AI自动生成口播文案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828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240279" y="1188720"/>
            <a:ext cx="1783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19" y="13716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D4FF"/>
                </a:solidFill>
                <a:latin typeface="Microsoft YaHei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331719" y="1828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智能评分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31719" y="21945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7维打分，定位弱项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77639" y="1828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206240" y="1188720"/>
            <a:ext cx="1783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97680" y="13716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00E676"/>
                </a:solidFill>
                <a:latin typeface="Microsoft YaHei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97680" y="1828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AI优化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7680" y="21945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根据弱项定向改写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943600" y="1828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72199" y="1188720"/>
            <a:ext cx="1783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39" y="13716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D740"/>
                </a:solidFill>
                <a:latin typeface="Microsoft YaHei"/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39" y="1828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对比审核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63639" y="21945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原文 vs 优化版左右对比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909559" y="1828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188720"/>
            <a:ext cx="1783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13716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5252"/>
                </a:solidFill>
                <a:latin typeface="Microsoft YaHei"/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0" y="1828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接受打分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21945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自动重新评分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875520" y="182880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&gt;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1188720"/>
            <a:ext cx="1783080" cy="18288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195560" y="137160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7C5CFC"/>
                </a:solidFill>
                <a:latin typeface="Microsoft YaHei"/>
              </a:defRPr>
            </a:pPr>
            <a:r>
              <a:t>6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95560" y="1828800"/>
            <a:ext cx="1600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Microsoft YaHei"/>
              </a:defRPr>
            </a:pPr>
            <a:r>
              <a:t>追踪进化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95560" y="2194560"/>
            <a:ext cx="1600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得分轨迹 6.5 -&gt; 7.2 -&gt; 7.8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33832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优化功能亮点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7280" y="393192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得分轨迹：记录每次优化后的评分变化, 可视化进步过程 (例: 6.5 -&gt; 7.2 -&gt; 7.8)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一键撤销：不满意可以回退到上一版, 保留完整优化历史, 随时对比各版本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过期标记：修改脚本后评分自动标记"已修改", 避免陈旧评分误导判断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自动保存：0.5秒防抖自动保存, 不再担心内容丢失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改动摘要：显示每次优化的字数变化和段落调整, 量化优化效果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最低分高亮：自动将最低维度排在最前, &lt;=5分红色高亮 + 改善提示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06 / 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功能全景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工作台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项目管理 · 快捷操作 · AI Coach提示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17043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IP蓝图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150876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6问引导 · 策略定义 · 对标分析 · 自动转化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39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22199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选题池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5603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选题管理 · 标签分类 · 优先级排序 · 状态跟踪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2148839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D7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22199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热点匹配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56031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实时热榜 · AI行业匹配 · 灵感推荐 · 一键转化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200400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525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73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脚本编辑器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AI生成 · 7维评分 · 优化闭环 · 一键撤销 · 8段方案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17920" y="3200400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FF85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27355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数据复盘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61188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预测偏差分析 · 规则自动进化 · 历史对比 · 学习积累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4251959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A07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0080" y="432511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方案管理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46634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拍摄方案列表 · 批量生成 · 脚本联动 · 状态管理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217920" y="4251959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0" y="4325111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发布管理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663439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多平台追踪 · 数据回传 · 效果分析 · 发布时间记录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5303520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7C5C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40080" y="5376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受众画像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目标受众定义 · 需求分析 · 内容偏好匹配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217920" y="5303520"/>
            <a:ext cx="5394960" cy="8686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00E6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00800" y="5376672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对标分析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715000"/>
            <a:ext cx="5029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竞品研究 · 差异定位 · 策略建议 · 数据对比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07 / 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技术架构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2743200" cy="868680"/>
          </a:xfrm>
          <a:prstGeom prst="round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桌面客户端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1887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Electron 33 框架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11887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macOS + Windows 双平台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11887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原生TitleBar + 系统集成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74720" y="155448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Electron-Builder 打包分发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2148839"/>
            <a:ext cx="2743200" cy="868680"/>
          </a:xfrm>
          <a:prstGeom prst="round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42315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前端渲染层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24027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React 19 + TypeScript 5.7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224027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Tailwind CSS 3.4 暗色主题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0" y="224027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Zustand 5 状态管理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60603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Radix UI + Lucide 图标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60603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CVA 组件变体管理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200400"/>
            <a:ext cx="2743200" cy="868680"/>
          </a:xfrm>
          <a:prstGeom prst="roundRect">
            <a:avLst/>
          </a:prstGeom>
          <a:solidFill>
            <a:srgbClr val="00E67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47472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IPC 通信层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2918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contextBridge 安全桥接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2918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preload 类型安全API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0" y="329184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文件系统操作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74720" y="365760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进程管理 + 系统调用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251959"/>
            <a:ext cx="2743200" cy="868680"/>
          </a:xfrm>
          <a:prstGeom prst="roundRect">
            <a:avLst/>
          </a:prstGeom>
          <a:solidFill>
            <a:srgbClr val="FFD7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526279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AI 服务层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74720" y="434339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多引擎支持 (可切换)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09360" y="434339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OpenAI / DeepSeek / 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434339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请求队列 + 速率限制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4709159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智能重试 + 错误翻译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5303520"/>
            <a:ext cx="2743200" cy="868680"/>
          </a:xfrm>
          <a:prstGeom prst="roundRect">
            <a:avLst/>
          </a:prstGeom>
          <a:solidFill>
            <a:srgbClr val="FF52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" y="5577840"/>
            <a:ext cx="23774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  <a:latin typeface="Microsoft YaHei"/>
              </a:defRPr>
            </a:pPr>
            <a:r>
              <a:t>数据存储层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474720" y="53949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Markdown + JSON 文件系统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309360" y="53949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SQLite 向量数据库 (HNSW)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0" y="539496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自动备份 + 版本管理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474720" y="5760720"/>
            <a:ext cx="26517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A0A0B0"/>
                </a:solidFill>
                <a:latin typeface="Microsoft YaHei"/>
              </a:defRPr>
            </a:pPr>
            <a:r>
              <a:t>  离线优先 + 本地优先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64008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A0A0B0"/>
                </a:solidFill>
                <a:latin typeface="Microsoft YaHei"/>
              </a:defRPr>
            </a:pPr>
            <a:r>
              <a:t>TypeScript 全栈 · 共享类型系统 · useReducer 状态管理 · @common 共享常量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08 / 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Microsoft YaHei"/>
              </a:defRPr>
            </a:pPr>
            <a:r>
              <a:t>数据闭环 &amp; 进化机制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D4FF"/>
                </a:solidFill>
                <a:latin typeface="Microsoft YaHei"/>
              </a:defRPr>
            </a:pPr>
            <a:r>
              <a:t>内容质量进化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1. AI 生成脚本 + 预测评分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2. 创作者修改 + AI 优化 + 重新评分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3. 发布到各平台，收集真实数据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4. 实际数据 vs 预测评分 偏差分析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5. 评分权重根据偏差自动调整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6. 积累越多数据，评分越准确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0" y="1097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00E676"/>
                </a:solidFill>
                <a:latin typeface="Microsoft YaHei"/>
              </a:defRPr>
            </a:pPr>
            <a:r>
              <a:t>技术特性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1645920"/>
            <a:ext cx="5029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本地优先：所有数据存储在本地，不上传云端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离线可用：无需联网即可编辑和管理内容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多AI引擎：支持切换不同AI服务商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自动备份：定时自动备份项目数据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类型安全：TypeScript全栈，编译时发现错误</a:t>
            </a:r>
          </a:p>
          <a:p>
            <a:pPr>
              <a:spcAft>
                <a:spcPts val="1050"/>
              </a:spcAft>
              <a:defRPr sz="1500">
                <a:solidFill>
                  <a:srgbClr val="A0A0B0"/>
                </a:solidFill>
                <a:latin typeface="Microsoft YaHei"/>
              </a:defRPr>
            </a:pPr>
            <a:r>
              <a:t>组件化：共享UI组件库，一致的产品体验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3891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40"/>
                </a:solidFill>
                <a:latin typeface="Microsoft YaHei"/>
              </a:defRPr>
            </a:pPr>
            <a:r>
              <a:t>适用场景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937760"/>
            <a:ext cx="26517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9436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短视频创作者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5394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系统化管理内容创作，AI辅助提升脚本质量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4937760"/>
            <a:ext cx="26517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7472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知识博主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5394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IP定位策略 + 选题规划 + 专业评分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937760"/>
            <a:ext cx="26517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内容团队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5394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多人协作方案管理 + 数据驱动的质量进化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4937760"/>
            <a:ext cx="2651760" cy="109728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5074920"/>
            <a:ext cx="23774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Microsoft YaHei"/>
              </a:defRPr>
            </a:pPr>
            <a:r>
              <a:t>个人IP孵化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5394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从0到1建立内容体系 + AI全程辅助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09 / 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7C5C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600" b="1">
                <a:solidFill>
                  <a:srgbClr val="FFFFFF"/>
                </a:solidFill>
                <a:latin typeface="Microsoft YaHei"/>
              </a:defRPr>
            </a:pPr>
            <a:r>
              <a:t>SparkForge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645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00D4FF"/>
                </a:solidFill>
                <a:latin typeface="Microsoft YaHei"/>
              </a:defRPr>
            </a:pPr>
            <a:r>
              <a:t>让每个人都能专业地做内容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560320"/>
            <a:ext cx="3383280" cy="1645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AI 赋能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291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AI 不是替代创作者，而是放大每个人的创作力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59" y="2560320"/>
            <a:ext cx="3383280" cy="1645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63439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数据驱动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663439" y="3291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评分 + 复盘 + 进化，让创作从玄学变成科学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560320"/>
            <a:ext cx="3383280" cy="164592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80" y="274320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Microsoft YaHei"/>
              </a:defRPr>
            </a:pPr>
            <a:r>
              <a:t>完整闭环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0" y="329184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A0A0B0"/>
                </a:solidFill>
                <a:latin typeface="Microsoft YaHei"/>
              </a:defRPr>
            </a:pPr>
            <a:r>
              <a:t>从灵感到发布到复盘，一站式创作工作流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6634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A0A0B0"/>
                </a:solidFill>
                <a:latin typeface="Microsoft YaHei"/>
              </a:defRPr>
            </a:pPr>
            <a:r>
              <a:t>技术栈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120640"/>
            <a:ext cx="16916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Microsoft YaHei"/>
              </a:defRPr>
            </a:pPr>
            <a:r>
              <a:t>Electron 33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606039" y="5120640"/>
            <a:ext cx="16916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697479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Microsoft YaHei"/>
              </a:defRPr>
            </a:pPr>
            <a:r>
              <a:t>React 19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480559" y="5120640"/>
            <a:ext cx="16916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1999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Microsoft YaHei"/>
              </a:defRPr>
            </a:pPr>
            <a:r>
              <a:t>TypeScript 5.7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5120640"/>
            <a:ext cx="16916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46519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Microsoft YaHei"/>
              </a:defRPr>
            </a:pPr>
            <a:r>
              <a:t>Tailwind CSS 3.4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0" y="5120640"/>
            <a:ext cx="16916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Microsoft YaHei"/>
              </a:defRPr>
            </a:pPr>
            <a:r>
              <a:t>Zustand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104120" y="5120640"/>
            <a:ext cx="1691640" cy="457200"/>
          </a:xfrm>
          <a:prstGeom prst="roundRect">
            <a:avLst/>
          </a:prstGeom>
          <a:solidFill>
            <a:srgbClr val="1A1A2E"/>
          </a:solidFill>
          <a:ln w="12700">
            <a:solidFill>
              <a:srgbClr val="2A2A4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0195560" y="5212080"/>
            <a:ext cx="1508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00D4FF"/>
                </a:solidFill>
                <a:latin typeface="Microsoft YaHei"/>
              </a:defRPr>
            </a:pPr>
            <a:r>
              <a:t>Radix UI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58521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A0A0B0"/>
                </a:solidFill>
                <a:latin typeface="Microsoft YaHei"/>
              </a:defRPr>
            </a:pPr>
            <a:r>
              <a:t>v1.0.0  |  macOS + Windows  |  github.com/l1onedontstop/workshop-test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63093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A0A0B0"/>
                </a:solidFill>
                <a:latin typeface="Microsoft YaHei"/>
              </a:defRPr>
            </a:pPr>
            <a:r>
              <a:t>SparkForge v1.0.0  |  个人影响力锻造工坊  |  10 / 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